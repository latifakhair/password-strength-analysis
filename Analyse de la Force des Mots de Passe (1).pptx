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Gotham" charset="1" panose="00000000000000000000"/>
      <p:regular r:id="rId20"/>
    </p:embeddedFont>
    <p:embeddedFont>
      <p:font typeface="Gotham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VAG5AYAahuM.mp4" Type="http://schemas.openxmlformats.org/officeDocument/2006/relationships/video"/><Relationship Id="rId4" Target="../media/VAG5AYAahuM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542649"/>
            <a:ext cx="18452724" cy="2233024"/>
            <a:chOff x="0" y="0"/>
            <a:chExt cx="4859977" cy="5881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59977" cy="588122"/>
            </a:xfrm>
            <a:custGeom>
              <a:avLst/>
              <a:gdLst/>
              <a:ahLst/>
              <a:cxnLst/>
              <a:rect r="r" b="b" t="t" l="l"/>
              <a:pathLst>
                <a:path h="588122" w="4859977">
                  <a:moveTo>
                    <a:pt x="0" y="0"/>
                  </a:moveTo>
                  <a:lnTo>
                    <a:pt x="4859977" y="0"/>
                  </a:lnTo>
                  <a:lnTo>
                    <a:pt x="4859977" y="588122"/>
                  </a:lnTo>
                  <a:lnTo>
                    <a:pt x="0" y="588122"/>
                  </a:lnTo>
                  <a:close/>
                </a:path>
              </a:pathLst>
            </a:custGeom>
            <a:solidFill>
              <a:srgbClr val="23306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59977" cy="62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871717"/>
            <a:ext cx="15586351" cy="15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8"/>
              </a:lnSpc>
            </a:pPr>
            <a:r>
              <a:rPr lang="en-US" sz="4982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</a:t>
            </a:r>
            <a:r>
              <a:rPr lang="en-US" sz="4982" spc="14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assword Strength Analysis &amp; Weakness Detection Model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937084" y="31438"/>
            <a:ext cx="4162510" cy="2763689"/>
          </a:xfrm>
          <a:custGeom>
            <a:avLst/>
            <a:gdLst/>
            <a:ahLst/>
            <a:cxnLst/>
            <a:rect r="r" b="b" t="t" l="l"/>
            <a:pathLst>
              <a:path h="2763689" w="4162510">
                <a:moveTo>
                  <a:pt x="0" y="0"/>
                </a:moveTo>
                <a:lnTo>
                  <a:pt x="4162511" y="0"/>
                </a:lnTo>
                <a:lnTo>
                  <a:pt x="4162511" y="2763690"/>
                </a:lnTo>
                <a:lnTo>
                  <a:pt x="0" y="2763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1988" y="130956"/>
            <a:ext cx="2513047" cy="2501778"/>
          </a:xfrm>
          <a:custGeom>
            <a:avLst/>
            <a:gdLst/>
            <a:ahLst/>
            <a:cxnLst/>
            <a:rect r="r" b="b" t="t" l="l"/>
            <a:pathLst>
              <a:path h="2501778" w="2513047">
                <a:moveTo>
                  <a:pt x="0" y="0"/>
                </a:moveTo>
                <a:lnTo>
                  <a:pt x="2513047" y="0"/>
                </a:lnTo>
                <a:lnTo>
                  <a:pt x="2513047" y="2501778"/>
                </a:lnTo>
                <a:lnTo>
                  <a:pt x="0" y="250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43747" y="494407"/>
            <a:ext cx="11000506" cy="191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3727">
                <a:solidFill>
                  <a:srgbClr val="233061"/>
                </a:solidFill>
                <a:latin typeface="Gotham"/>
                <a:ea typeface="Gotham"/>
                <a:cs typeface="Gotham"/>
                <a:sym typeface="Gotham"/>
              </a:rPr>
              <a:t>FACULTY OF SCIENCES OF AGADIR Excellence Master's Program Data Analytics and Artificial Intelligence (ADIA)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181" y="7507992"/>
            <a:ext cx="7210908" cy="1750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b="true" sz="3514" spc="-207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Réalisé par:</a:t>
            </a:r>
          </a:p>
          <a:p>
            <a:pPr algn="ctr">
              <a:lnSpc>
                <a:spcPts val="5483"/>
              </a:lnSpc>
            </a:pPr>
            <a:r>
              <a:rPr lang="en-US" b="true" sz="3206" spc="-189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KINAD  Kawtar             </a:t>
            </a:r>
            <a:r>
              <a:rPr lang="en-US" b="true" sz="3206" spc="-189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KHAIR  Latifa</a:t>
            </a:r>
          </a:p>
          <a:p>
            <a:pPr algn="ctr">
              <a:lnSpc>
                <a:spcPts val="4008"/>
              </a:lnSpc>
            </a:pPr>
            <a:r>
              <a:rPr lang="en-US" b="true" sz="3206" spc="-189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JIRARI  Inass                  IZIKKI  Hajar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4869" y="7507992"/>
            <a:ext cx="6644431" cy="124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</a:pPr>
            <a:r>
              <a:rPr lang="en-US" b="true" sz="3514" spc="-207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Encadre Par :</a:t>
            </a:r>
          </a:p>
          <a:p>
            <a:pPr algn="ctr">
              <a:lnSpc>
                <a:spcPts val="6693"/>
              </a:lnSpc>
            </a:pPr>
            <a:r>
              <a:rPr lang="en-US" b="true" sz="3414" spc="-201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Pr</a:t>
            </a:r>
            <a:r>
              <a:rPr lang="en-US" b="true" sz="3414" spc="-201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.  BOUGHROUS Moncef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54112" y="2728453"/>
            <a:ext cx="4696123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Module: CyberSecurity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333903" y="3602213"/>
            <a:ext cx="2656284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3131"/>
                </a:solidFill>
                <a:latin typeface="Gotham Bold"/>
                <a:ea typeface="Gotham Bold"/>
                <a:cs typeface="Gotham Bold"/>
                <a:sym typeface="Gotham Bold"/>
              </a:rPr>
              <a:t>Project - </a:t>
            </a:r>
            <a:r>
              <a:rPr lang="en-US" b="true" sz="3199">
                <a:solidFill>
                  <a:srgbClr val="FF3131"/>
                </a:solidFill>
                <a:latin typeface="Gotham Bold"/>
                <a:ea typeface="Gotham Bold"/>
                <a:cs typeface="Gotham Bold"/>
                <a:sym typeface="Gotham Bold"/>
              </a:rPr>
              <a:t>N°2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4341003" y="4190514"/>
            <a:ext cx="10587979" cy="1905972"/>
            <a:chOff x="0" y="0"/>
            <a:chExt cx="2788604" cy="5019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88604" cy="501984"/>
            </a:xfrm>
            <a:custGeom>
              <a:avLst/>
              <a:gdLst/>
              <a:ahLst/>
              <a:cxnLst/>
              <a:rect r="r" b="b" t="t" l="l"/>
              <a:pathLst>
                <a:path h="501984" w="2788604">
                  <a:moveTo>
                    <a:pt x="0" y="0"/>
                  </a:moveTo>
                  <a:lnTo>
                    <a:pt x="2788604" y="0"/>
                  </a:lnTo>
                  <a:lnTo>
                    <a:pt x="2788604" y="501984"/>
                  </a:lnTo>
                  <a:lnTo>
                    <a:pt x="0" y="501984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88604" cy="540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81253" y="-287022"/>
            <a:ext cx="6956711" cy="10454073"/>
          </a:xfrm>
          <a:custGeom>
            <a:avLst/>
            <a:gdLst/>
            <a:ahLst/>
            <a:cxnLst/>
            <a:rect r="r" b="b" t="t" l="l"/>
            <a:pathLst>
              <a:path h="10454073" w="6956711">
                <a:moveTo>
                  <a:pt x="0" y="0"/>
                </a:moveTo>
                <a:lnTo>
                  <a:pt x="6956710" y="0"/>
                </a:lnTo>
                <a:lnTo>
                  <a:pt x="6956710" y="10454073"/>
                </a:lnTo>
                <a:lnTo>
                  <a:pt x="0" y="10454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74669" y="167546"/>
            <a:ext cx="12458793" cy="199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The Cybersecurity Problem: Why Passwords Fail</a:t>
            </a:r>
          </a:p>
          <a:p>
            <a:pPr algn="l">
              <a:lnSpc>
                <a:spcPts val="8469"/>
              </a:lnSpc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Project Goals : From "Length" to "Strength"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11298" y="26241"/>
            <a:ext cx="1022164" cy="732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1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2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  <a:p>
            <a:pPr algn="r">
              <a:lnSpc>
                <a:spcPts val="8440"/>
              </a:lnSpc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</p:txBody>
      </p:sp>
      <p:sp>
        <p:nvSpPr>
          <p:cNvPr name="AutoShape 8" id="8"/>
          <p:cNvSpPr/>
          <p:nvPr/>
        </p:nvSpPr>
        <p:spPr>
          <a:xfrm>
            <a:off x="2855415" y="1191535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855415" y="2290935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855415" y="3388177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855415" y="4487577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855415" y="5533546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855415" y="6622691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-5400000">
            <a:off x="-2685034" y="4418496"/>
            <a:ext cx="8647233" cy="145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3"/>
              </a:lnSpc>
            </a:pPr>
            <a:r>
              <a:rPr lang="en-US" sz="11330" spc="-566">
                <a:solidFill>
                  <a:srgbClr val="FAF2E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sp>
        <p:nvSpPr>
          <p:cNvPr name="AutoShape 15" id="15"/>
          <p:cNvSpPr/>
          <p:nvPr/>
        </p:nvSpPr>
        <p:spPr>
          <a:xfrm>
            <a:off x="2855415" y="7650022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2855415" y="8667750"/>
            <a:ext cx="2982658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Co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nc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lu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ion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07134" y="7385628"/>
            <a:ext cx="326328" cy="92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40"/>
              </a:lnSpc>
              <a:spcBef>
                <a:spcPct val="0"/>
              </a:spcBef>
            </a:pPr>
            <a:r>
              <a:rPr lang="en-US" sz="3445" spc="-68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5415" y="6594195"/>
            <a:ext cx="3831750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onstration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5415" y="2332350"/>
            <a:ext cx="9870066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Data Pip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eline and Feature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36162" y="7692885"/>
            <a:ext cx="10564539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Actionabl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e Recommendations for a SOC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55415" y="3431749"/>
            <a:ext cx="9225837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nitial Finding: Low Complexity &amp; Entropy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5415" y="5566864"/>
            <a:ext cx="8582159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eature Im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ortance: The Predictors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2855415" y="8748712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5007134" y="8537977"/>
            <a:ext cx="326328" cy="92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40"/>
              </a:lnSpc>
              <a:spcBef>
                <a:spcPct val="0"/>
              </a:spcBef>
            </a:pPr>
            <a:r>
              <a:rPr lang="en-US" sz="3445" spc="-68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9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836162" y="9719529"/>
            <a:ext cx="12478046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874669" y="4530439"/>
            <a:ext cx="7095636" cy="9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69"/>
              </a:lnSpc>
              <a:spcBef>
                <a:spcPct val="0"/>
              </a:spcBef>
            </a:pPr>
            <a:r>
              <a:rPr lang="en-US" sz="3457" spc="-69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Model Sel</a:t>
            </a:r>
            <a:r>
              <a:rPr lang="en-US" sz="3457" spc="-69" strike="noStrike" u="none">
                <a:solidFill>
                  <a:srgbClr val="010C80"/>
                </a:solidFill>
                <a:latin typeface="Gotham"/>
                <a:ea typeface="Gotham"/>
                <a:cs typeface="Gotham"/>
                <a:sym typeface="Gotham"/>
              </a:rPr>
              <a:t>ection Justification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12616"/>
            <a:chOff x="0" y="0"/>
            <a:chExt cx="4816593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45710"/>
            </a:xfrm>
            <a:custGeom>
              <a:avLst/>
              <a:gdLst/>
              <a:ahLst/>
              <a:cxnLst/>
              <a:rect r="r" b="b" t="t" l="l"/>
              <a:pathLst>
                <a:path h="34571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46676" y="2018535"/>
            <a:ext cx="705788" cy="7057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61536" y="2126284"/>
            <a:ext cx="3719044" cy="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264" spc="-65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Vulnerability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24788" y="2111281"/>
            <a:ext cx="4345998" cy="931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sz="3150" spc="-63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Attacker's Methods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9189" y="1946190"/>
            <a:ext cx="865703" cy="86570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8E81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05412" y="1946190"/>
            <a:ext cx="785761" cy="7857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E7D7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82089" y="1917285"/>
            <a:ext cx="814665" cy="81466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8E81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43711" y="3869168"/>
            <a:ext cx="3354115" cy="2028941"/>
          </a:xfrm>
          <a:custGeom>
            <a:avLst/>
            <a:gdLst/>
            <a:ahLst/>
            <a:cxnLst/>
            <a:rect r="r" b="b" t="t" l="l"/>
            <a:pathLst>
              <a:path h="2028941" w="3354115">
                <a:moveTo>
                  <a:pt x="0" y="0"/>
                </a:moveTo>
                <a:lnTo>
                  <a:pt x="3354115" y="0"/>
                </a:lnTo>
                <a:lnTo>
                  <a:pt x="3354115" y="2028941"/>
                </a:lnTo>
                <a:lnTo>
                  <a:pt x="0" y="202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62" t="0" r="-31635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929927" y="3471471"/>
            <a:ext cx="2700749" cy="2327352"/>
          </a:xfrm>
          <a:custGeom>
            <a:avLst/>
            <a:gdLst/>
            <a:ahLst/>
            <a:cxnLst/>
            <a:rect r="r" b="b" t="t" l="l"/>
            <a:pathLst>
              <a:path h="2327352" w="2700749">
                <a:moveTo>
                  <a:pt x="0" y="0"/>
                </a:moveTo>
                <a:lnTo>
                  <a:pt x="2700749" y="0"/>
                </a:lnTo>
                <a:lnTo>
                  <a:pt x="2700749" y="2327352"/>
                </a:lnTo>
                <a:lnTo>
                  <a:pt x="0" y="232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124" t="0" r="-33796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022621" y="3146553"/>
            <a:ext cx="3673347" cy="3136120"/>
          </a:xfrm>
          <a:custGeom>
            <a:avLst/>
            <a:gdLst/>
            <a:ahLst/>
            <a:cxnLst/>
            <a:rect r="r" b="b" t="t" l="l"/>
            <a:pathLst>
              <a:path h="3136120" w="3673347">
                <a:moveTo>
                  <a:pt x="0" y="0"/>
                </a:moveTo>
                <a:lnTo>
                  <a:pt x="3673347" y="0"/>
                </a:lnTo>
                <a:lnTo>
                  <a:pt x="3673347" y="3136121"/>
                </a:lnTo>
                <a:lnTo>
                  <a:pt x="0" y="3136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10800000">
            <a:off x="4519362" y="4806008"/>
            <a:ext cx="1958894" cy="884636"/>
            <a:chOff x="0" y="0"/>
            <a:chExt cx="890865" cy="4023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0865" cy="402315"/>
            </a:xfrm>
            <a:custGeom>
              <a:avLst/>
              <a:gdLst/>
              <a:ahLst/>
              <a:cxnLst/>
              <a:rect r="r" b="b" t="t" l="l"/>
              <a:pathLst>
                <a:path h="402315" w="890865">
                  <a:moveTo>
                    <a:pt x="239386" y="165568"/>
                  </a:moveTo>
                  <a:lnTo>
                    <a:pt x="890865" y="165568"/>
                  </a:lnTo>
                  <a:lnTo>
                    <a:pt x="890865" y="236733"/>
                  </a:lnTo>
                  <a:lnTo>
                    <a:pt x="239373" y="236733"/>
                  </a:lnTo>
                  <a:lnTo>
                    <a:pt x="302255" y="402315"/>
                  </a:lnTo>
                  <a:lnTo>
                    <a:pt x="0" y="201157"/>
                  </a:lnTo>
                  <a:lnTo>
                    <a:pt x="302255" y="0"/>
                  </a:lnTo>
                  <a:lnTo>
                    <a:pt x="239386" y="1655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770215" cy="11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18438" y="418400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8366" indent="-464183" lvl="1">
              <a:lnSpc>
                <a:spcPts val="5073"/>
              </a:lnSpc>
              <a:buAutoNum type="arabicPeriod" startAt="1"/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Cybersecurity Problem: Why Passwords Fail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67263" y="9592089"/>
            <a:ext cx="4710263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32168" y="2084359"/>
            <a:ext cx="4254252" cy="93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sz="3147" spc="-62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Critical Impact</a:t>
            </a:r>
          </a:p>
          <a:p>
            <a:pPr algn="ctr">
              <a:lnSpc>
                <a:spcPts val="3714"/>
              </a:lnSpc>
            </a:pPr>
            <a:r>
              <a:rPr lang="en-US" sz="3147" spc="-62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CIA Triad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0568" y="1966530"/>
            <a:ext cx="940968" cy="64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b="true" sz="3070" spc="28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71255" y="1945309"/>
            <a:ext cx="854075" cy="61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1"/>
              </a:lnSpc>
            </a:pPr>
            <a:r>
              <a:rPr lang="en-US" b="true" sz="2950" spc="27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46676" y="1905526"/>
            <a:ext cx="885493" cy="64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6"/>
              </a:lnSpc>
            </a:pPr>
            <a:r>
              <a:rPr lang="en-US" b="true" sz="3059" spc="28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33183" y="6917145"/>
            <a:ext cx="3770216" cy="653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70418" indent="-235209" lvl="1">
              <a:lnSpc>
                <a:spcPts val="2571"/>
              </a:lnSpc>
              <a:buFont typeface="Arial"/>
              <a:buChar char="•"/>
            </a:pPr>
            <a:r>
              <a:rPr lang="en-US" b="true" sz="2178" spc="-43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Confidentiality</a:t>
            </a:r>
            <a:r>
              <a:rPr lang="en-US" b="true" sz="2178" spc="-4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Private data is accessed.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30051" y="8038758"/>
            <a:ext cx="3673347" cy="63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477"/>
              </a:lnSpc>
              <a:buFont typeface="Arial"/>
              <a:buChar char="•"/>
            </a:pPr>
            <a:r>
              <a:rPr lang="en-US" b="true" sz="2099" spc="-4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Integrity</a:t>
            </a:r>
            <a:r>
              <a:rPr lang="en-US" b="true" sz="2099" spc="-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  <a:r>
              <a:rPr lang="en-US" b="true" sz="2099" spc="-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is altered or deleted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76460" y="9141120"/>
            <a:ext cx="3259733" cy="63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477"/>
              </a:lnSpc>
              <a:buFont typeface="Arial"/>
              <a:buChar char="•"/>
            </a:pPr>
            <a:r>
              <a:rPr lang="en-US" b="true" sz="2099" spc="-4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Availability  </a:t>
            </a:r>
            <a:r>
              <a:rPr lang="en-US" b="true" sz="2099" spc="-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</a:t>
            </a:r>
            <a:r>
              <a:rPr lang="en-US" b="true" sz="2099" spc="-4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is locked or down.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2175" y="6680998"/>
            <a:ext cx="359718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b="true" sz="2499" spc="-4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</a:t>
            </a:r>
            <a:r>
              <a:rPr lang="en-US" b="true" sz="2499" spc="-4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Weak Password</a:t>
            </a:r>
            <a:r>
              <a:rPr lang="en-US" b="true" sz="2499" spc="-4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is the primary entry point for attackers.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55715" y="5898109"/>
            <a:ext cx="4911104" cy="194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0418" indent="-235209" lvl="1">
              <a:lnSpc>
                <a:spcPts val="2571"/>
              </a:lnSpc>
              <a:buFont typeface="Arial"/>
              <a:buChar char="•"/>
            </a:pPr>
            <a:r>
              <a:rPr lang="en-US" b="true" sz="2178" spc="-43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Dictionary Attacks and Credential Stuffing:</a:t>
            </a:r>
          </a:p>
          <a:p>
            <a:pPr algn="just">
              <a:lnSpc>
                <a:spcPts val="2571"/>
              </a:lnSpc>
            </a:pPr>
            <a:r>
              <a:rPr lang="en-US" b="true" sz="2178" spc="-4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These attacks leverage large lists of previously compromised or common passwords</a:t>
            </a:r>
          </a:p>
          <a:p>
            <a:pPr algn="just">
              <a:lnSpc>
                <a:spcPts val="2571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6893784" y="7941993"/>
            <a:ext cx="4773036" cy="194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0418" indent="-235209" lvl="1">
              <a:lnSpc>
                <a:spcPts val="2571"/>
              </a:lnSpc>
              <a:buFont typeface="Arial"/>
              <a:buChar char="•"/>
            </a:pPr>
            <a:r>
              <a:rPr lang="en-US" b="true" sz="2178" spc="-43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Brute Force Attacks:</a:t>
            </a:r>
          </a:p>
          <a:p>
            <a:pPr algn="just" marL="0" indent="0" lvl="0">
              <a:lnSpc>
                <a:spcPts val="2571"/>
              </a:lnSpc>
              <a:spcBef>
                <a:spcPct val="0"/>
              </a:spcBef>
            </a:pPr>
            <a:r>
              <a:rPr lang="en-US" b="true" sz="2178" spc="-4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involves systematically testing every conceivable character combination until the correct credential is identified.</a:t>
            </a:r>
          </a:p>
          <a:p>
            <a:pPr algn="just" marL="0" indent="0" lvl="0">
              <a:lnSpc>
                <a:spcPts val="2571"/>
              </a:lnSpc>
              <a:spcBef>
                <a:spcPct val="0"/>
              </a:spcBef>
            </a:pPr>
          </a:p>
        </p:txBody>
      </p:sp>
      <p:grpSp>
        <p:nvGrpSpPr>
          <p:cNvPr name="Group 37" id="37"/>
          <p:cNvGrpSpPr/>
          <p:nvPr/>
        </p:nvGrpSpPr>
        <p:grpSpPr>
          <a:xfrm rot="-10800000">
            <a:off x="12082347" y="4701182"/>
            <a:ext cx="1958894" cy="884636"/>
            <a:chOff x="0" y="0"/>
            <a:chExt cx="890865" cy="4023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0865" cy="402315"/>
            </a:xfrm>
            <a:custGeom>
              <a:avLst/>
              <a:gdLst/>
              <a:ahLst/>
              <a:cxnLst/>
              <a:rect r="r" b="b" t="t" l="l"/>
              <a:pathLst>
                <a:path h="402315" w="890865">
                  <a:moveTo>
                    <a:pt x="239386" y="165568"/>
                  </a:moveTo>
                  <a:lnTo>
                    <a:pt x="890865" y="165568"/>
                  </a:lnTo>
                  <a:lnTo>
                    <a:pt x="890865" y="236733"/>
                  </a:lnTo>
                  <a:lnTo>
                    <a:pt x="239373" y="236733"/>
                  </a:lnTo>
                  <a:lnTo>
                    <a:pt x="302255" y="402315"/>
                  </a:lnTo>
                  <a:lnTo>
                    <a:pt x="0" y="201157"/>
                  </a:lnTo>
                  <a:lnTo>
                    <a:pt x="302255" y="0"/>
                  </a:lnTo>
                  <a:lnTo>
                    <a:pt x="239386" y="1655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20650" y="127000"/>
              <a:ext cx="770215" cy="11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9463" y="5171937"/>
            <a:ext cx="785761" cy="849210"/>
            <a:chOff x="0" y="0"/>
            <a:chExt cx="812800" cy="878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78432"/>
            </a:xfrm>
            <a:custGeom>
              <a:avLst/>
              <a:gdLst/>
              <a:ahLst/>
              <a:cxnLst/>
              <a:rect r="r" b="b" t="t" l="l"/>
              <a:pathLst>
                <a:path h="878432" w="812800">
                  <a:moveTo>
                    <a:pt x="406400" y="0"/>
                  </a:moveTo>
                  <a:cubicBezTo>
                    <a:pt x="181951" y="0"/>
                    <a:pt x="0" y="196644"/>
                    <a:pt x="0" y="439216"/>
                  </a:cubicBezTo>
                  <a:cubicBezTo>
                    <a:pt x="0" y="681789"/>
                    <a:pt x="181951" y="878432"/>
                    <a:pt x="406400" y="878432"/>
                  </a:cubicBezTo>
                  <a:cubicBezTo>
                    <a:pt x="630849" y="878432"/>
                    <a:pt x="812800" y="681789"/>
                    <a:pt x="812800" y="439216"/>
                  </a:cubicBezTo>
                  <a:cubicBezTo>
                    <a:pt x="812800" y="1966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E7D7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89097"/>
              <a:ext cx="660400" cy="885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11"/>
                </a:lnSpc>
                <a:spcBef>
                  <a:spcPct val="0"/>
                </a:spcBef>
              </a:pPr>
              <a:r>
                <a:rPr lang="en-US" b="true" sz="2950" spc="27" strike="noStrike" u="none">
                  <a:solidFill>
                    <a:srgbClr val="010C8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89463" y="7707117"/>
            <a:ext cx="785761" cy="7857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E7D7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9463" y="2560648"/>
            <a:ext cx="785761" cy="849210"/>
            <a:chOff x="0" y="0"/>
            <a:chExt cx="812800" cy="878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8432"/>
            </a:xfrm>
            <a:custGeom>
              <a:avLst/>
              <a:gdLst/>
              <a:ahLst/>
              <a:cxnLst/>
              <a:rect r="r" b="b" t="t" l="l"/>
              <a:pathLst>
                <a:path h="878432" w="812800">
                  <a:moveTo>
                    <a:pt x="406400" y="0"/>
                  </a:moveTo>
                  <a:cubicBezTo>
                    <a:pt x="181951" y="0"/>
                    <a:pt x="0" y="196644"/>
                    <a:pt x="0" y="439216"/>
                  </a:cubicBezTo>
                  <a:cubicBezTo>
                    <a:pt x="0" y="681789"/>
                    <a:pt x="181951" y="878432"/>
                    <a:pt x="406400" y="878432"/>
                  </a:cubicBezTo>
                  <a:cubicBezTo>
                    <a:pt x="630849" y="878432"/>
                    <a:pt x="812800" y="681789"/>
                    <a:pt x="812800" y="439216"/>
                  </a:cubicBezTo>
                  <a:cubicBezTo>
                    <a:pt x="812800" y="1966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E7D7"/>
            </a:solidFill>
            <a:ln w="19050" cap="sq">
              <a:solidFill>
                <a:srgbClr val="00225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89097"/>
              <a:ext cx="660400" cy="885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11"/>
                </a:lnSpc>
                <a:spcBef>
                  <a:spcPct val="0"/>
                </a:spcBef>
              </a:pPr>
              <a:r>
                <a:rPr lang="en-US" b="true" sz="2950" spc="27" strike="noStrike" u="none">
                  <a:solidFill>
                    <a:srgbClr val="010C8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9455306" y="4795745"/>
            <a:ext cx="7770662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352789" y="7378505"/>
            <a:ext cx="8594179" cy="0"/>
          </a:xfrm>
          <a:prstGeom prst="line">
            <a:avLst/>
          </a:prstGeom>
          <a:ln cap="flat" w="9525">
            <a:solidFill>
              <a:srgbClr val="0022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2303807" y="6809130"/>
            <a:ext cx="4559928" cy="3326626"/>
          </a:xfrm>
          <a:custGeom>
            <a:avLst/>
            <a:gdLst/>
            <a:ahLst/>
            <a:cxnLst/>
            <a:rect r="r" b="b" t="t" l="l"/>
            <a:pathLst>
              <a:path h="3326626" w="4559928">
                <a:moveTo>
                  <a:pt x="0" y="0"/>
                </a:moveTo>
                <a:lnTo>
                  <a:pt x="4559928" y="0"/>
                </a:lnTo>
                <a:lnTo>
                  <a:pt x="4559928" y="3326626"/>
                </a:lnTo>
                <a:lnTo>
                  <a:pt x="0" y="3326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37" r="0" b="-1476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816314" y="949102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493" y="3108080"/>
            <a:ext cx="7598555" cy="3481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5"/>
              </a:lnSpc>
            </a:pPr>
            <a:r>
              <a:rPr lang="en-US" sz="2159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old "</a:t>
            </a:r>
            <a:r>
              <a:rPr lang="en-US" sz="2159" spc="1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length-only</a:t>
            </a:r>
            <a:r>
              <a:rPr lang="en-US" sz="2159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 policy is a critical failure. A credential like </a:t>
            </a:r>
            <a:r>
              <a:rPr lang="en-US" sz="2159" spc="1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12345678</a:t>
            </a:r>
            <a:r>
              <a:rPr lang="en-US" sz="2159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meets the length requirement but offers zero security against common attacks.</a:t>
            </a:r>
          </a:p>
          <a:p>
            <a:pPr algn="ctr">
              <a:lnSpc>
                <a:spcPts val="3455"/>
              </a:lnSpc>
            </a:pPr>
          </a:p>
          <a:p>
            <a:pPr algn="ctr">
              <a:lnSpc>
                <a:spcPts val="3455"/>
              </a:lnSpc>
            </a:pPr>
            <a:r>
              <a:rPr lang="en-US" sz="2159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project's goal is to quantify unpredictability (</a:t>
            </a:r>
            <a:r>
              <a:rPr lang="en-US" sz="2159" spc="1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Shannon Entropy</a:t>
            </a:r>
            <a:r>
              <a:rPr lang="en-US" sz="2159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 and build an intelligent classifier to measure true strength.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95696" y="1652767"/>
            <a:ext cx="5595474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2.2. Core Objectives: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55306" y="7706237"/>
            <a:ext cx="854075" cy="61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1"/>
              </a:lnSpc>
            </a:pPr>
            <a:r>
              <a:rPr lang="en-US" b="true" sz="2950" spc="27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82343" y="2866918"/>
            <a:ext cx="4908826" cy="39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652" spc="-53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Quantify Vulnerability: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60732" y="5388259"/>
            <a:ext cx="6284686" cy="41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7"/>
              </a:lnSpc>
            </a:pPr>
            <a:r>
              <a:rPr lang="en-US" b="true" sz="2752" spc="-55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Develop an Accurate ML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74324" y="7886185"/>
            <a:ext cx="7672644" cy="43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83"/>
              </a:lnSpc>
            </a:pPr>
            <a:r>
              <a:rPr lang="en-US" b="true" sz="2952" spc="-5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 Actionable Recommendations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Project Goal: From "Length" to "Strength"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74324" y="3567204"/>
            <a:ext cx="7598555" cy="8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5"/>
              </a:lnSpc>
            </a:pPr>
            <a:r>
              <a:rPr lang="en-US" b="true" sz="2159" spc="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Analyze the 14M+ passwords in the RockYou.txt dataset to find real, statistical weakness patterns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11369" y="6120269"/>
            <a:ext cx="7598555" cy="8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5"/>
              </a:lnSpc>
            </a:pPr>
            <a:r>
              <a:rPr lang="en-US" b="true" sz="2159" spc="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Build and train a Random Forest Classifier to accurately predict the strength of any new password.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74324" y="8407153"/>
            <a:ext cx="7598555" cy="172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5"/>
              </a:lnSpc>
            </a:pPr>
            <a:r>
              <a:rPr lang="en-US" b="true" sz="2159" spc="1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Use the model's results (Feature Importance) to provide data-backed security policies for a Security Operations Center (SOC).</a:t>
            </a:r>
          </a:p>
          <a:p>
            <a:pPr algn="just">
              <a:lnSpc>
                <a:spcPts val="345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53839" y="1704487"/>
            <a:ext cx="6504460" cy="116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01"/>
              </a:lnSpc>
            </a:pPr>
            <a:r>
              <a:rPr lang="en-US" sz="3899" spc="-77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2.1. The Traditional Policy is Insufficient: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4542" y="2746717"/>
            <a:ext cx="2566759" cy="4344274"/>
          </a:xfrm>
          <a:custGeom>
            <a:avLst/>
            <a:gdLst/>
            <a:ahLst/>
            <a:cxnLst/>
            <a:rect r="r" b="b" t="t" l="l"/>
            <a:pathLst>
              <a:path h="4344274" w="2566759">
                <a:moveTo>
                  <a:pt x="0" y="0"/>
                </a:moveTo>
                <a:lnTo>
                  <a:pt x="2566759" y="0"/>
                </a:lnTo>
                <a:lnTo>
                  <a:pt x="2566759" y="4344274"/>
                </a:lnTo>
                <a:lnTo>
                  <a:pt x="0" y="43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3" t="0" r="-318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57428" y="2520981"/>
            <a:ext cx="3107469" cy="3276123"/>
          </a:xfrm>
          <a:custGeom>
            <a:avLst/>
            <a:gdLst/>
            <a:ahLst/>
            <a:cxnLst/>
            <a:rect r="r" b="b" t="t" l="l"/>
            <a:pathLst>
              <a:path h="3276123" w="3107469">
                <a:moveTo>
                  <a:pt x="0" y="0"/>
                </a:moveTo>
                <a:lnTo>
                  <a:pt x="3107468" y="0"/>
                </a:lnTo>
                <a:lnTo>
                  <a:pt x="3107468" y="3276123"/>
                </a:lnTo>
                <a:lnTo>
                  <a:pt x="0" y="32761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91" t="0" r="-388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65271" y="3140658"/>
            <a:ext cx="3457126" cy="3950334"/>
          </a:xfrm>
          <a:custGeom>
            <a:avLst/>
            <a:gdLst/>
            <a:ahLst/>
            <a:cxnLst/>
            <a:rect r="r" b="b" t="t" l="l"/>
            <a:pathLst>
              <a:path h="3950334" w="3457126">
                <a:moveTo>
                  <a:pt x="0" y="0"/>
                </a:moveTo>
                <a:lnTo>
                  <a:pt x="3457126" y="0"/>
                </a:lnTo>
                <a:lnTo>
                  <a:pt x="3457126" y="3950333"/>
                </a:lnTo>
                <a:lnTo>
                  <a:pt x="0" y="3950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53" t="0" r="-688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Data Pipeline and 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7922" y="1504731"/>
            <a:ext cx="13006480" cy="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264" spc="-65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 turn 14M raw text passwords into predictable data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0829" y="8091116"/>
            <a:ext cx="4552454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RockYou.txt 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14.3 Million Raw Passwords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9464" y="7388039"/>
            <a:ext cx="3135184" cy="46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sz="3052" spc="-6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D</a:t>
            </a:r>
            <a:r>
              <a:rPr lang="en-US" sz="3052" spc="-6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ata Source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931" y="5951945"/>
            <a:ext cx="4521850" cy="46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sz="3052" spc="-6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Feature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26242" y="6793313"/>
            <a:ext cx="3135184" cy="92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sz="3052" spc="-61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AI Model 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74031" y="6589340"/>
            <a:ext cx="6125270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created 8 key predictive features: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17154" y="7266947"/>
            <a:ext cx="2886571" cy="2673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length</a:t>
            </a:r>
          </a:p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count_lower</a:t>
            </a:r>
          </a:p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count_upper</a:t>
            </a:r>
          </a:p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count_digit</a:t>
            </a:r>
          </a:p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count_symbol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6666" y="7325052"/>
            <a:ext cx="3939282" cy="2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4991"/>
              </a:lnSpc>
              <a:buFont typeface="Arial"/>
              <a:buChar char="•"/>
            </a:pPr>
            <a:r>
              <a:rPr lang="en-US" sz="2599" u="sng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Feature:</a:t>
            </a:r>
          </a:p>
          <a:p>
            <a:pPr algn="l" marL="539746" indent="-269873" lvl="1">
              <a:lnSpc>
                <a:spcPts val="604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char_classes</a:t>
            </a:r>
          </a:p>
          <a:p>
            <a:pPr algn="l" marL="539746" indent="-269873" lvl="1">
              <a:lnSpc>
                <a:spcPts val="47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shannon_entropy </a:t>
            </a:r>
          </a:p>
          <a:p>
            <a:pPr algn="l" marL="539746" indent="-269873" lvl="1">
              <a:lnSpc>
                <a:spcPts val="47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is_common_pattern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-732799">
            <a:off x="4380960" y="5727184"/>
            <a:ext cx="2189820" cy="449523"/>
          </a:xfrm>
          <a:custGeom>
            <a:avLst/>
            <a:gdLst/>
            <a:ahLst/>
            <a:cxnLst/>
            <a:rect r="r" b="b" t="t" l="l"/>
            <a:pathLst>
              <a:path h="449523" w="2189820">
                <a:moveTo>
                  <a:pt x="0" y="0"/>
                </a:moveTo>
                <a:lnTo>
                  <a:pt x="2189820" y="0"/>
                </a:lnTo>
                <a:lnTo>
                  <a:pt x="2189820" y="449523"/>
                </a:lnTo>
                <a:lnTo>
                  <a:pt x="0" y="449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559585">
            <a:off x="11351506" y="5886667"/>
            <a:ext cx="2189820" cy="449523"/>
          </a:xfrm>
          <a:custGeom>
            <a:avLst/>
            <a:gdLst/>
            <a:ahLst/>
            <a:cxnLst/>
            <a:rect r="r" b="b" t="t" l="l"/>
            <a:pathLst>
              <a:path h="449523" w="2189820">
                <a:moveTo>
                  <a:pt x="0" y="0"/>
                </a:moveTo>
                <a:lnTo>
                  <a:pt x="2189820" y="0"/>
                </a:lnTo>
                <a:lnTo>
                  <a:pt x="2189820" y="449523"/>
                </a:lnTo>
                <a:lnTo>
                  <a:pt x="0" y="4495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138771" y="7809872"/>
            <a:ext cx="3120529" cy="213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Random Forest</a:t>
            </a:r>
          </a:p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SVM</a:t>
            </a:r>
          </a:p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LogisticRegression </a:t>
            </a:r>
          </a:p>
          <a:p>
            <a:pPr algn="ctr">
              <a:lnSpc>
                <a:spcPts val="4299"/>
              </a:lnSpc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....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896099" y="9655707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13339" y="2812176"/>
            <a:ext cx="1553734" cy="1638062"/>
          </a:xfrm>
          <a:custGeom>
            <a:avLst/>
            <a:gdLst/>
            <a:ahLst/>
            <a:cxnLst/>
            <a:rect r="r" b="b" t="t" l="l"/>
            <a:pathLst>
              <a:path h="1638062" w="1553734">
                <a:moveTo>
                  <a:pt x="0" y="0"/>
                </a:moveTo>
                <a:lnTo>
                  <a:pt x="1553734" y="0"/>
                </a:lnTo>
                <a:lnTo>
                  <a:pt x="1553734" y="1638062"/>
                </a:lnTo>
                <a:lnTo>
                  <a:pt x="0" y="163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91" t="0" r="-388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72490" y="1950212"/>
            <a:ext cx="11254263" cy="3559897"/>
          </a:xfrm>
          <a:custGeom>
            <a:avLst/>
            <a:gdLst/>
            <a:ahLst/>
            <a:cxnLst/>
            <a:rect r="r" b="b" t="t" l="l"/>
            <a:pathLst>
              <a:path h="3559897" w="11254263">
                <a:moveTo>
                  <a:pt x="0" y="0"/>
                </a:moveTo>
                <a:lnTo>
                  <a:pt x="11254264" y="0"/>
                </a:lnTo>
                <a:lnTo>
                  <a:pt x="11254264" y="3559897"/>
                </a:lnTo>
                <a:lnTo>
                  <a:pt x="0" y="3559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1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6354" y="2027143"/>
            <a:ext cx="2011567" cy="3208127"/>
          </a:xfrm>
          <a:custGeom>
            <a:avLst/>
            <a:gdLst/>
            <a:ahLst/>
            <a:cxnLst/>
            <a:rect r="r" b="b" t="t" l="l"/>
            <a:pathLst>
              <a:path h="3208127" w="2011567">
                <a:moveTo>
                  <a:pt x="0" y="0"/>
                </a:moveTo>
                <a:lnTo>
                  <a:pt x="2011568" y="0"/>
                </a:lnTo>
                <a:lnTo>
                  <a:pt x="2011568" y="3208128"/>
                </a:lnTo>
                <a:lnTo>
                  <a:pt x="0" y="3208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108" r="0" b="-993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Data Pipeline and 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7922" y="1258544"/>
            <a:ext cx="13006480" cy="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 Engineering: The Transformed 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96099" y="9655707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49839" y="5880149"/>
            <a:ext cx="7443853" cy="48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Meaning of Key Predictive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4180" y="6612340"/>
            <a:ext cx="5757002" cy="271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611"/>
              </a:lnSpc>
              <a:buAutoNum type="arabicPeriod" startAt="1"/>
            </a:pPr>
            <a:r>
              <a:rPr lang="en-US" sz="2100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100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char_classes (Complexity)</a:t>
            </a:r>
          </a:p>
          <a:p>
            <a:pPr algn="l" marL="453390" indent="-226695" lvl="1">
              <a:lnSpc>
                <a:spcPts val="3611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 score from 1 to 4 (Types used: lowercase, uppercase, digits, symbols).</a:t>
            </a:r>
          </a:p>
          <a:p>
            <a:pPr algn="l" marL="453390" indent="-226695" lvl="1">
              <a:lnSpc>
                <a:spcPts val="3611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It’s our strongest predictor. Score of 4 is essential for maximizing defense.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6457" y="6612340"/>
            <a:ext cx="5761732" cy="357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 s</a:t>
            </a:r>
            <a:r>
              <a:rPr lang="en-US" b="true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hannon_entropy</a:t>
            </a:r>
            <a:r>
              <a:rPr lang="en-US" b="true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(Theoretical Strength)</a:t>
            </a:r>
          </a:p>
          <a:p>
            <a:pPr algn="l" marL="453388" indent="-226694" lvl="1">
              <a:lnSpc>
                <a:spcPts val="3611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Unpredictability score in bits. Measures resistance to Brute Force.</a:t>
            </a:r>
          </a:p>
          <a:p>
            <a:pPr algn="l" marL="453388" indent="-226694" lvl="1">
              <a:lnSpc>
                <a:spcPts val="3611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Calculation: Length×log2(Alphabet Size).</a:t>
            </a:r>
          </a:p>
          <a:p>
            <a:pPr algn="l" marL="431799" indent="-215899" lvl="1">
              <a:lnSpc>
                <a:spcPts val="343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Goal: </a:t>
            </a:r>
            <a:r>
              <a:rPr lang="en-US" b="true" sz="1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set a security baseline of ≥60 bits.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8734" y="6612340"/>
            <a:ext cx="5438019" cy="317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is_</a:t>
            </a:r>
            <a:r>
              <a:rPr lang="en-US" b="true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common_pattern (Contextual</a:t>
            </a:r>
            <a:r>
              <a:rPr lang="en-US" b="true" sz="2099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Risk):</a:t>
            </a:r>
          </a:p>
          <a:p>
            <a:pPr algn="l" marL="453388" indent="-226694" lvl="1">
              <a:lnSpc>
                <a:spcPts val="3611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It’s a binary flag for sequences, repetitions, or dictionary words (e.g., 12345, qwerty). </a:t>
            </a:r>
          </a:p>
          <a:p>
            <a:pPr algn="l" marL="453388" indent="-226694" lvl="1">
              <a:lnSpc>
                <a:spcPts val="3611"/>
              </a:lnSpc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 Protects against instant failure from Dictionary Attacks.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694354" y="3631207"/>
            <a:ext cx="1328631" cy="272739"/>
          </a:xfrm>
          <a:custGeom>
            <a:avLst/>
            <a:gdLst/>
            <a:ahLst/>
            <a:cxnLst/>
            <a:rect r="r" b="b" t="t" l="l"/>
            <a:pathLst>
              <a:path h="272739" w="1328631">
                <a:moveTo>
                  <a:pt x="0" y="0"/>
                </a:moveTo>
                <a:lnTo>
                  <a:pt x="1328631" y="0"/>
                </a:lnTo>
                <a:lnTo>
                  <a:pt x="1328631" y="272739"/>
                </a:lnTo>
                <a:lnTo>
                  <a:pt x="0" y="27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369684" y="3631207"/>
            <a:ext cx="1223021" cy="251060"/>
          </a:xfrm>
          <a:custGeom>
            <a:avLst/>
            <a:gdLst/>
            <a:ahLst/>
            <a:cxnLst/>
            <a:rect r="r" b="b" t="t" l="l"/>
            <a:pathLst>
              <a:path h="251060" w="1223021">
                <a:moveTo>
                  <a:pt x="0" y="0"/>
                </a:moveTo>
                <a:lnTo>
                  <a:pt x="1223021" y="0"/>
                </a:lnTo>
                <a:lnTo>
                  <a:pt x="1223021" y="251060"/>
                </a:lnTo>
                <a:lnTo>
                  <a:pt x="0" y="2510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828337"/>
            <a:ext cx="6930008" cy="5525329"/>
          </a:xfrm>
          <a:custGeom>
            <a:avLst/>
            <a:gdLst/>
            <a:ahLst/>
            <a:cxnLst/>
            <a:rect r="r" b="b" t="t" l="l"/>
            <a:pathLst>
              <a:path h="5525329" w="6930008">
                <a:moveTo>
                  <a:pt x="0" y="0"/>
                </a:moveTo>
                <a:lnTo>
                  <a:pt x="6930008" y="0"/>
                </a:lnTo>
                <a:lnTo>
                  <a:pt x="6930008" y="5525329"/>
                </a:lnTo>
                <a:lnTo>
                  <a:pt x="0" y="55253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4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26691" y="2774288"/>
            <a:ext cx="6458143" cy="5326038"/>
          </a:xfrm>
          <a:custGeom>
            <a:avLst/>
            <a:gdLst/>
            <a:ahLst/>
            <a:cxnLst/>
            <a:rect r="r" b="b" t="t" l="l"/>
            <a:pathLst>
              <a:path h="5326038" w="6458143">
                <a:moveTo>
                  <a:pt x="0" y="0"/>
                </a:moveTo>
                <a:lnTo>
                  <a:pt x="6458143" y="0"/>
                </a:lnTo>
                <a:lnTo>
                  <a:pt x="6458143" y="5326038"/>
                </a:lnTo>
                <a:lnTo>
                  <a:pt x="0" y="5326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Initial Finding: Low Complexity &amp; Entropy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029" y="8402637"/>
            <a:ext cx="8785351" cy="1587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45.4% of passwords use only 1 or 2 classes (e.g., all lowercase, or lowercase + numbers).</a:t>
            </a:r>
          </a:p>
          <a:p>
            <a:pPr algn="ctr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Only 3.5% use all 4 classes (including symbols).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147" y="1518295"/>
            <a:ext cx="8086229" cy="48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 1: Low Complexity is Common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0226" y="2102849"/>
            <a:ext cx="5326956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Users avoid complex characters.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23906" y="8071751"/>
            <a:ext cx="7463713" cy="214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076" indent="-217538" lvl="1">
              <a:lnSpc>
                <a:spcPts val="3466"/>
              </a:lnSpc>
              <a:buFont typeface="Arial"/>
              <a:buChar char="•"/>
            </a:pPr>
            <a:r>
              <a:rPr lang="en-US" sz="20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</a:t>
            </a:r>
            <a:r>
              <a:rPr lang="en-US" b="true" sz="20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average password (Class 1-3) is far below the 60-bit security standard.</a:t>
            </a:r>
          </a:p>
          <a:p>
            <a:pPr algn="l" marL="435076" indent="-217538" lvl="1">
              <a:lnSpc>
                <a:spcPts val="3466"/>
              </a:lnSpc>
              <a:buFont typeface="Arial"/>
              <a:buChar char="•"/>
            </a:pPr>
            <a:r>
              <a:rPr lang="en-US" b="true" sz="20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Adding the </a:t>
            </a:r>
            <a:r>
              <a:rPr lang="en-US" b="true" sz="2015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4th class (symbols)</a:t>
            </a:r>
            <a:r>
              <a:rPr lang="en-US" b="true" sz="20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is the *only* action that significantly increases strength (from 52 to 70 bits).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75411" y="2212386"/>
            <a:ext cx="7553722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behavior leads to low entropy (strength).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19650" y="1518295"/>
            <a:ext cx="7609483" cy="48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Low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Entr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opy is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Result</a:t>
            </a: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8585959" y="2287943"/>
            <a:ext cx="1050406" cy="474363"/>
            <a:chOff x="0" y="0"/>
            <a:chExt cx="890865" cy="4023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0865" cy="402315"/>
            </a:xfrm>
            <a:custGeom>
              <a:avLst/>
              <a:gdLst/>
              <a:ahLst/>
              <a:cxnLst/>
              <a:rect r="r" b="b" t="t" l="l"/>
              <a:pathLst>
                <a:path h="402315" w="890865">
                  <a:moveTo>
                    <a:pt x="239386" y="165568"/>
                  </a:moveTo>
                  <a:lnTo>
                    <a:pt x="890865" y="165568"/>
                  </a:lnTo>
                  <a:lnTo>
                    <a:pt x="890865" y="236733"/>
                  </a:lnTo>
                  <a:lnTo>
                    <a:pt x="239373" y="236733"/>
                  </a:lnTo>
                  <a:lnTo>
                    <a:pt x="302255" y="402315"/>
                  </a:lnTo>
                  <a:lnTo>
                    <a:pt x="0" y="201157"/>
                  </a:lnTo>
                  <a:lnTo>
                    <a:pt x="302255" y="0"/>
                  </a:lnTo>
                  <a:lnTo>
                    <a:pt x="239386" y="1655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0650" y="127000"/>
              <a:ext cx="770215" cy="11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8618797" y="5353820"/>
            <a:ext cx="1050406" cy="474363"/>
            <a:chOff x="0" y="0"/>
            <a:chExt cx="890865" cy="4023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0865" cy="402315"/>
            </a:xfrm>
            <a:custGeom>
              <a:avLst/>
              <a:gdLst/>
              <a:ahLst/>
              <a:cxnLst/>
              <a:rect r="r" b="b" t="t" l="l"/>
              <a:pathLst>
                <a:path h="402315" w="890865">
                  <a:moveTo>
                    <a:pt x="239386" y="165568"/>
                  </a:moveTo>
                  <a:lnTo>
                    <a:pt x="890865" y="165568"/>
                  </a:lnTo>
                  <a:lnTo>
                    <a:pt x="890865" y="236733"/>
                  </a:lnTo>
                  <a:lnTo>
                    <a:pt x="239373" y="236733"/>
                  </a:lnTo>
                  <a:lnTo>
                    <a:pt x="302255" y="402315"/>
                  </a:lnTo>
                  <a:lnTo>
                    <a:pt x="0" y="201157"/>
                  </a:lnTo>
                  <a:lnTo>
                    <a:pt x="302255" y="0"/>
                  </a:lnTo>
                  <a:lnTo>
                    <a:pt x="239386" y="16556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27000"/>
              <a:ext cx="770215" cy="110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29254" y="3487367"/>
            <a:ext cx="14016164" cy="4450132"/>
          </a:xfrm>
          <a:custGeom>
            <a:avLst/>
            <a:gdLst/>
            <a:ahLst/>
            <a:cxnLst/>
            <a:rect r="r" b="b" t="t" l="l"/>
            <a:pathLst>
              <a:path h="4450132" w="14016164">
                <a:moveTo>
                  <a:pt x="0" y="0"/>
                </a:moveTo>
                <a:lnTo>
                  <a:pt x="14016163" y="0"/>
                </a:lnTo>
                <a:lnTo>
                  <a:pt x="14016163" y="4450132"/>
                </a:lnTo>
                <a:lnTo>
                  <a:pt x="0" y="4450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 Model Selection Justification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07011" y="2677973"/>
            <a:ext cx="11819831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tested multiple models. The Random Forest was the clear winner.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824" y="1860057"/>
            <a:ext cx="6814094" cy="48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3264" spc="-65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od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mpa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son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1-Sco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671" y="8213724"/>
            <a:ext cx="18101329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Insight: The problem is </a:t>
            </a:r>
            <a:r>
              <a:rPr lang="en-US" b="true" sz="2499" strike="noStrike" u="none">
                <a:solidFill>
                  <a:srgbClr val="4984D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non-linear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 A simple tree-based model (Random Forest) is required to accurately classify password strength based on our complex features.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 Feature Importance: The Predictors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9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308831" y="2769531"/>
            <a:ext cx="9670338" cy="5870958"/>
          </a:xfrm>
          <a:custGeom>
            <a:avLst/>
            <a:gdLst/>
            <a:ahLst/>
            <a:cxnLst/>
            <a:rect r="r" b="b" t="t" l="l"/>
            <a:pathLst>
              <a:path h="5870958" w="9670338">
                <a:moveTo>
                  <a:pt x="0" y="0"/>
                </a:moveTo>
                <a:lnTo>
                  <a:pt x="9670338" y="0"/>
                </a:lnTo>
                <a:lnTo>
                  <a:pt x="9670338" y="5870958"/>
                </a:lnTo>
                <a:lnTo>
                  <a:pt x="0" y="587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0" r="-1876" b="-211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40384" y="2045494"/>
            <a:ext cx="10920910" cy="48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2"/>
              </a:lnSpc>
              <a:spcBef>
                <a:spcPct val="0"/>
              </a:spcBef>
            </a:pPr>
            <a:r>
              <a:rPr lang="en-US" sz="3264" spc="-65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Contribution of Features to the 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's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Decis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b="true" sz="3264" spc="-65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5644" y="1429599"/>
            <a:ext cx="11085909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 ana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ys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ls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true c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om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ts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of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sswo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ength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644" y="8812019"/>
            <a:ext cx="17156359" cy="1044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ucial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g: The mode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 confir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that comp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lexity and u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edictability are far more critical than s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otal l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ength.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61295" y="3558735"/>
            <a:ext cx="364658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Character Classes (45.3%)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1295" y="4206967"/>
            <a:ext cx="352663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sz="2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hannon Entropy (16.8%)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996" r="0" b="7428"/>
          <a:stretch>
            <a:fillRect/>
          </a:stretch>
        </p:blipFill>
        <p:spPr>
          <a:xfrm flipH="false" flipV="false" rot="0">
            <a:off x="1994294" y="2432292"/>
            <a:ext cx="14956554" cy="76201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 Live Classification demonstration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18" y="1271823"/>
            <a:ext cx="18146165" cy="95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955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Fla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ica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 Random Forest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to in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antly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cla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ssify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 based o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its f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atu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 (Entropy, Classes, Patterns) to </a:t>
            </a:r>
            <a:r>
              <a:rPr lang="en-US" b="true" sz="2299" strike="noStrike" u="none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WEAK (0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), </a:t>
            </a:r>
            <a:r>
              <a:rPr lang="en-US" b="true" sz="2299" strike="noStrike" u="none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MEDIUM (1) 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 </a:t>
            </a:r>
            <a:r>
              <a:rPr lang="en-US" b="true" sz="2299" strike="noStrike" u="none">
                <a:solidFill>
                  <a:srgbClr val="0A670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STRONG (2</a:t>
            </a:r>
            <a:r>
              <a:rPr lang="en-US" b="true" sz="22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10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8. Actionable Recommendations for a SOC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7772" y="1693150"/>
            <a:ext cx="13157498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42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ased on our model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's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we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 t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hree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a-d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riven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olic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 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ng</a:t>
            </a:r>
            <a:r>
              <a:rPr lang="en-US" b="true" sz="24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7667" y="3048012"/>
            <a:ext cx="5077558" cy="625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b="true" sz="2648" spc="-5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648" spc="-52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Mandate Character Complexity</a:t>
            </a:r>
          </a:p>
          <a:p>
            <a:pPr algn="l" marL="571726" indent="-285863" lvl="1">
              <a:lnSpc>
                <a:spcPts val="3124"/>
              </a:lnSpc>
              <a:buFont typeface="Arial"/>
              <a:buChar char="•"/>
            </a:pPr>
            <a:r>
              <a:rPr lang="en-US" b="true" sz="2648" spc="-52">
                <a:solidFill>
                  <a:srgbClr val="03029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Policy</a:t>
            </a:r>
            <a:r>
              <a:rPr lang="en-US" b="true" sz="2648" spc="-5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Enforce a strict requirement for 4 Character Classes (lowercase, uppercase, digits, and symbols).</a:t>
            </a:r>
          </a:p>
          <a:p>
            <a:pPr algn="l" marL="571726" indent="-285863" lvl="1">
              <a:lnSpc>
                <a:spcPts val="3124"/>
              </a:lnSpc>
              <a:buFont typeface="Arial"/>
              <a:buChar char="•"/>
            </a:pPr>
            <a:r>
              <a:rPr lang="en-US" b="true" sz="2648" spc="-52">
                <a:solidFill>
                  <a:srgbClr val="001C8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Data-Backed Justification</a:t>
            </a:r>
            <a:r>
              <a:rPr lang="en-US" b="true" sz="2648" spc="-5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Our model identified char_classes as the most powerful predictor (45.3% importance). This is the single most effective way to guarantee high entropy.</a:t>
            </a:r>
          </a:p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b="true" sz="2648" spc="-5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4083" y="3048012"/>
            <a:ext cx="5022900" cy="615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b="true" sz="2740" spc="-54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Enforce an Entropy Baseline</a:t>
            </a:r>
          </a:p>
          <a:p>
            <a:pPr algn="l" marL="591765" indent="-295882" lvl="1">
              <a:lnSpc>
                <a:spcPts val="3234"/>
              </a:lnSpc>
              <a:buFont typeface="Arial"/>
              <a:buChar char="•"/>
            </a:pPr>
            <a:r>
              <a:rPr lang="en-US" b="true" sz="2740" spc="-54">
                <a:solidFill>
                  <a:srgbClr val="001C8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Policy: </a:t>
            </a:r>
            <a:r>
              <a:rPr lang="en-US" b="true" sz="2740" spc="-5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Algorithmically reject any new password with a calculated Shannon Entropy below 60 bits.</a:t>
            </a:r>
          </a:p>
          <a:p>
            <a:pPr algn="l" marL="591765" indent="-295882" lvl="1">
              <a:lnSpc>
                <a:spcPts val="3234"/>
              </a:lnSpc>
              <a:buFont typeface="Arial"/>
              <a:buChar char="•"/>
            </a:pPr>
            <a:r>
              <a:rPr lang="en-US" b="true" sz="2740" spc="-54">
                <a:solidFill>
                  <a:srgbClr val="001C8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Data-Backed Justification:</a:t>
            </a:r>
            <a:r>
              <a:rPr lang="en-US" b="true" sz="2740" spc="-5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This moves security from a simple "length" rule to a scientific "time-to-crack" metric. It guarantees resistance to brute-force attacks.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5840" y="3048012"/>
            <a:ext cx="4682741" cy="587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  <a:spcBef>
                <a:spcPct val="0"/>
              </a:spcBef>
            </a:pPr>
            <a:r>
              <a:rPr lang="en-US" b="true" sz="2808" spc="-56">
                <a:solidFill>
                  <a:srgbClr val="C22F3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Block Known-Weak Patterns</a:t>
            </a:r>
          </a:p>
          <a:p>
            <a:pPr algn="l" marL="606361" indent="-303180" lvl="1">
              <a:lnSpc>
                <a:spcPts val="3314"/>
              </a:lnSpc>
              <a:buFont typeface="Arial"/>
              <a:buChar char="•"/>
            </a:pPr>
            <a:r>
              <a:rPr lang="en-US" b="true" sz="2808" spc="-56">
                <a:solidFill>
                  <a:srgbClr val="001C8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Policy: </a:t>
            </a:r>
            <a:r>
              <a:rPr lang="en-US" b="true" sz="2808" spc="-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 a real-time filter (like our is_common_pattern regex) to reject common sequences, repetitions, and dictionary words.</a:t>
            </a:r>
          </a:p>
          <a:p>
            <a:pPr algn="l" marL="606361" indent="-303180" lvl="1">
              <a:lnSpc>
                <a:spcPts val="3314"/>
              </a:lnSpc>
              <a:buFont typeface="Arial"/>
              <a:buChar char="•"/>
            </a:pPr>
            <a:r>
              <a:rPr lang="en-US" b="true" sz="2808" spc="-56">
                <a:solidFill>
                  <a:srgbClr val="001C8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Data-Backed Justification: </a:t>
            </a:r>
            <a:r>
              <a:rPr lang="en-US" b="true" sz="2808" spc="-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protects against human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676" y="-133954"/>
            <a:ext cx="18353676" cy="1312616"/>
            <a:chOff x="0" y="0"/>
            <a:chExt cx="4833890" cy="345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3890" cy="345710"/>
            </a:xfrm>
            <a:custGeom>
              <a:avLst/>
              <a:gdLst/>
              <a:ahLst/>
              <a:cxnLst/>
              <a:rect r="r" b="b" t="t" l="l"/>
              <a:pathLst>
                <a:path h="345710" w="4833890">
                  <a:moveTo>
                    <a:pt x="0" y="0"/>
                  </a:moveTo>
                  <a:lnTo>
                    <a:pt x="4833890" y="0"/>
                  </a:lnTo>
                  <a:lnTo>
                    <a:pt x="4833890" y="345710"/>
                  </a:lnTo>
                  <a:lnTo>
                    <a:pt x="0" y="345710"/>
                  </a:lnTo>
                  <a:close/>
                </a:path>
              </a:pathLst>
            </a:custGeom>
            <a:solidFill>
              <a:srgbClr val="0022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33890" cy="383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94294" y="324192"/>
            <a:ext cx="14251123" cy="63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3"/>
              </a:lnSpc>
            </a:pPr>
            <a:r>
              <a:rPr lang="en-US" sz="4299" spc="-8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9. Conclusion /  Project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19507" y="9517875"/>
            <a:ext cx="2130655" cy="53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97"/>
              </a:lnSpc>
            </a:pPr>
            <a:r>
              <a:rPr lang="en-US" b="true" sz="2609" spc="24">
                <a:solidFill>
                  <a:srgbClr val="010C80"/>
                </a:solidFill>
                <a:latin typeface="Gotham Bold"/>
                <a:ea typeface="Gotham Bold"/>
                <a:cs typeface="Gotham Bold"/>
                <a:sym typeface="Gotham Bold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272868"/>
            <a:ext cx="13378708" cy="42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654" indent="-306827" lvl="1">
              <a:lnSpc>
                <a:spcPts val="3353"/>
              </a:lnSpc>
              <a:buFont typeface="Arial"/>
              <a:buChar char="•"/>
            </a:pPr>
            <a:r>
              <a:rPr lang="en-US" b="true" sz="2842" spc="-5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contribution: From traditional rules to data-driven security.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367" y="4093302"/>
            <a:ext cx="18035633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59" strike="noStrike" u="none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Accurate Model</a:t>
            </a:r>
            <a:r>
              <a:rPr lang="en-US" b="true" sz="2999" spc="-5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 Random Forest achieved a perfect F1-Score (1.00) in classifying password strength.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367" y="2690079"/>
            <a:ext cx="18035633" cy="119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644" indent="-325322" lvl="1">
              <a:lnSpc>
                <a:spcPts val="49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3" spc="-60" strike="noStrike" u="none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Quantified Findings</a:t>
            </a:r>
            <a:r>
              <a:rPr lang="en-US" b="true" sz="3013" spc="-60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:We scientifically proved the critical failure of low char_classes usage in the RockYou dataset.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2367" y="5430612"/>
            <a:ext cx="16592285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59" strike="noStrike" u="none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Solution:</a:t>
            </a:r>
            <a:r>
              <a:rPr lang="en-US" b="true" sz="2999" spc="-5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We delivered a functional Flask Web Demonstration of the classification model.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2367" y="7541754"/>
            <a:ext cx="18035633" cy="21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5739"/>
              </a:lnSpc>
              <a:buFont typeface="Arial"/>
              <a:buChar char="•"/>
            </a:pPr>
            <a:r>
              <a:rPr lang="en-US" b="true" sz="3499" spc="-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 of the model into an authentication API (production deployment).</a:t>
            </a:r>
          </a:p>
          <a:p>
            <a:pPr algn="l" marL="755646" indent="-377823" lvl="1">
              <a:lnSpc>
                <a:spcPts val="5739"/>
              </a:lnSpc>
              <a:buFont typeface="Arial"/>
              <a:buChar char="•"/>
            </a:pPr>
            <a:r>
              <a:rPr lang="en-US" b="true" sz="3499" spc="-6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 of advanced attack patterns (e.g., Leetspeak variations) for ongoing maintenance.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367" y="6910798"/>
            <a:ext cx="5706558" cy="57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0"/>
              </a:lnSpc>
              <a:spcBef>
                <a:spcPct val="0"/>
              </a:spcBef>
            </a:pPr>
            <a:r>
              <a:rPr lang="en-US" sz="3864" spc="-77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ii. Future P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ers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tiv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367" y="2042088"/>
            <a:ext cx="7135877" cy="57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0"/>
              </a:lnSpc>
              <a:spcBef>
                <a:spcPct val="0"/>
              </a:spcBef>
            </a:pPr>
            <a:r>
              <a:rPr lang="en-US" sz="3864" spc="-77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i. Project K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ey Contributi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</a:t>
            </a:r>
            <a:r>
              <a:rPr lang="en-US" b="true" sz="3864" spc="-77" strike="noStrike" u="none">
                <a:solidFill>
                  <a:srgbClr val="010C8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702574" y="9452214"/>
            <a:ext cx="3900936" cy="3175"/>
          </a:xfrm>
          <a:prstGeom prst="line">
            <a:avLst/>
          </a:prstGeom>
          <a:ln cap="flat" w="28575">
            <a:solidFill>
              <a:srgbClr val="F7E7D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081796" y="-541995"/>
            <a:ext cx="7206204" cy="10828995"/>
          </a:xfrm>
          <a:custGeom>
            <a:avLst/>
            <a:gdLst/>
            <a:ahLst/>
            <a:cxnLst/>
            <a:rect r="r" b="b" t="t" l="l"/>
            <a:pathLst>
              <a:path h="10828995" w="7206204">
                <a:moveTo>
                  <a:pt x="0" y="0"/>
                </a:moveTo>
                <a:lnTo>
                  <a:pt x="7206204" y="0"/>
                </a:lnTo>
                <a:lnTo>
                  <a:pt x="7206204" y="10828995"/>
                </a:lnTo>
                <a:lnTo>
                  <a:pt x="0" y="1082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4978" y="1724779"/>
            <a:ext cx="743859" cy="743859"/>
          </a:xfrm>
          <a:custGeom>
            <a:avLst/>
            <a:gdLst/>
            <a:ahLst/>
            <a:cxnLst/>
            <a:rect r="r" b="b" t="t" l="l"/>
            <a:pathLst>
              <a:path h="743859" w="743859">
                <a:moveTo>
                  <a:pt x="0" y="0"/>
                </a:moveTo>
                <a:lnTo>
                  <a:pt x="743859" y="0"/>
                </a:lnTo>
                <a:lnTo>
                  <a:pt x="743859" y="743859"/>
                </a:lnTo>
                <a:lnTo>
                  <a:pt x="0" y="743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0900" y="5657311"/>
            <a:ext cx="13874078" cy="265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483"/>
              </a:lnSpc>
            </a:pPr>
            <a:r>
              <a:rPr lang="en-US" b="true" sz="8884" spc="-17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Your feedback and questions are welcome.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9811" y="2115759"/>
            <a:ext cx="11517556" cy="143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09"/>
              </a:lnSpc>
            </a:pPr>
            <a:r>
              <a:rPr lang="en-US" b="true" sz="9584" spc="-19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DAG4zFu3e8U</dc:identifier>
  <dcterms:modified xsi:type="dcterms:W3CDTF">2011-08-01T06:04:30Z</dcterms:modified>
  <cp:revision>1</cp:revision>
  <dc:title>Analyse de la Force des Mots de Passe</dc:title>
</cp:coreProperties>
</file>